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8" r:id="rId4"/>
    <p:sldId id="284" r:id="rId5"/>
    <p:sldId id="272" r:id="rId6"/>
    <p:sldId id="285" r:id="rId7"/>
    <p:sldId id="260" r:id="rId8"/>
    <p:sldId id="286" r:id="rId9"/>
    <p:sldId id="290" r:id="rId10"/>
    <p:sldId id="291" r:id="rId11"/>
    <p:sldId id="293" r:id="rId12"/>
    <p:sldId id="289" r:id="rId13"/>
    <p:sldId id="292" r:id="rId14"/>
    <p:sldId id="287" r:id="rId15"/>
    <p:sldId id="276" r:id="rId16"/>
    <p:sldId id="274" r:id="rId17"/>
    <p:sldId id="2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BED0"/>
    <a:srgbClr val="007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01"/>
    <p:restoredTop sz="84234"/>
  </p:normalViewPr>
  <p:slideViewPr>
    <p:cSldViewPr snapToGrid="0">
      <p:cViewPr varScale="1">
        <p:scale>
          <a:sx n="99" d="100"/>
          <a:sy n="99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4B807-3897-E249-BBE7-65EDAC81347E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BE218-5FB6-5748-80CF-2DA18369D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89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IN" b="0" i="0" dirty="0">
              <a:solidFill>
                <a:srgbClr val="212529"/>
              </a:solidFill>
              <a:effectLst/>
              <a:latin typeface="system-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BE218-5FB6-5748-80CF-2DA18369D3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5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BE218-5FB6-5748-80CF-2DA18369D3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89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1B2D7-C626-CA4D-FC9B-D98A07D52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469CB-0DB9-D30B-5604-1409037F3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B3743E-6F6C-D277-9C96-C6AF89BE4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</a:t>
            </a:r>
            <a:r>
              <a:rPr lang="en-US" dirty="0" err="1"/>
              <a:t>awt</a:t>
            </a:r>
            <a:r>
              <a:rPr lang="en-US" dirty="0"/>
              <a:t>/swing :: heavy weight/light weight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30A09-6B6F-7074-367C-67438D904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BE218-5FB6-5748-80CF-2DA18369D3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575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A76FB-6D47-BF06-47AA-3A22793E6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132B2-B6C2-051A-8BE3-90152DF4D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05D5D-6EBB-B3C8-3AC8-B2170D3E1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BA761-4579-AE25-7741-475A8979B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BE218-5FB6-5748-80CF-2DA18369D3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818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BE218-5FB6-5748-80CF-2DA18369D3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233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8DC1E-44A6-CEFF-2755-530328CAC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FAC0C-33E3-DFF8-5FF3-B05F1E82E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6C938-2F85-93E1-25B4-78DCB254D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0CB38-C971-C5A0-628E-CD2632687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BE218-5FB6-5748-80CF-2DA18369D3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132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mail.openjdk.org</a:t>
            </a:r>
            <a:r>
              <a:rPr lang="en-US" dirty="0"/>
              <a:t>/</a:t>
            </a:r>
            <a:r>
              <a:rPr lang="en-US" dirty="0" err="1"/>
              <a:t>pipermail</a:t>
            </a:r>
            <a:r>
              <a:rPr lang="en-US" dirty="0"/>
              <a:t>/loom-dev/2022-October/004972.html</a:t>
            </a:r>
          </a:p>
          <a:p>
            <a:endParaRPr lang="en-US" dirty="0"/>
          </a:p>
          <a:p>
            <a:r>
              <a:rPr lang="en-US" dirty="0"/>
              <a:t>Customization           Vanilla </a:t>
            </a:r>
            <a:r>
              <a:rPr lang="en-US" dirty="0" err="1"/>
              <a:t>ForkJoinPool</a:t>
            </a:r>
            <a:r>
              <a:rPr lang="en-US" dirty="0"/>
              <a:t>        Virtual Thread Scheduler</a:t>
            </a:r>
          </a:p>
          <a:p>
            <a:r>
              <a:rPr lang="en-US" dirty="0"/>
              <a:t>Worker factory          Default threads             Custom daemon carrier threads</a:t>
            </a:r>
          </a:p>
          <a:p>
            <a:r>
              <a:rPr lang="en-US" dirty="0" err="1"/>
              <a:t>asyncMode</a:t>
            </a:r>
            <a:r>
              <a:rPr lang="en-US" dirty="0"/>
              <a:t>               false (LIFO for owner)      true (FIFO for owner)</a:t>
            </a:r>
          </a:p>
          <a:p>
            <a:r>
              <a:rPr lang="en-US" dirty="0"/>
              <a:t>Task unit               </a:t>
            </a:r>
            <a:r>
              <a:rPr lang="en-US" dirty="0" err="1"/>
              <a:t>ForkJoinTask</a:t>
            </a:r>
            <a:r>
              <a:rPr lang="en-US" dirty="0"/>
              <a:t>                Runnable (continuation wrapper)</a:t>
            </a:r>
          </a:p>
          <a:p>
            <a:r>
              <a:rPr lang="en-US" dirty="0"/>
              <a:t>Exception handler       Default                     Custom (protects carrier)</a:t>
            </a:r>
          </a:p>
          <a:p>
            <a:r>
              <a:rPr lang="en-US" dirty="0"/>
              <a:t>Pool expansion          Manual                      Automatic on pinning via </a:t>
            </a:r>
            <a:r>
              <a:rPr lang="en-US" dirty="0" err="1"/>
              <a:t>ManagedBlocker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BE218-5FB6-5748-80CF-2DA18369D3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0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130F0-029E-3206-5FBD-BE996992C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2699D-A579-5357-4B0A-72AE23D27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779E7-D507-FD69-19B4-906730226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Continuation demo</a:t>
            </a:r>
          </a:p>
          <a:p>
            <a:endParaRPr lang="en-US" dirty="0"/>
          </a:p>
          <a:p>
            <a:r>
              <a:rPr lang="en-US" dirty="0"/>
              <a:t>a continuation is an abstract representation of the control state of a computer program. A continuation implements (reifies) the program control state, i.e. the continuation is a data structure that represents the computational process at a given point in the process's execution; the created data structure can be accessed by the programming language, instead of being hidden in the runtime environment.</a:t>
            </a:r>
          </a:p>
          <a:p>
            <a:r>
              <a:rPr lang="en-US" dirty="0"/>
              <a:t>a delimited continuation, composable continuation or partial continuation, is a "slice" of a continuation frame that has been reified into a function.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~/Tools/</a:t>
            </a:r>
            <a:r>
              <a:rPr lang="en-I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jdk</a:t>
            </a:r>
            <a:r>
              <a:rPr lang="en-I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/openjdk-21.0.2/Contents/Home/bin/java --add-exports </a:t>
            </a:r>
            <a:r>
              <a:rPr lang="en-I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java.base</a:t>
            </a:r>
            <a:r>
              <a:rPr lang="en-I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I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jdk.internal.vm</a:t>
            </a:r>
            <a:r>
              <a:rPr lang="en-I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=ALL-UNNAMED /Users/rsunderb/Tools/</a:t>
            </a:r>
            <a:r>
              <a:rPr lang="en-I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IdeaProjects</a:t>
            </a:r>
            <a:r>
              <a:rPr lang="en-I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I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TestCode</a:t>
            </a:r>
            <a:r>
              <a:rPr lang="en-I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I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I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I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javafest</a:t>
            </a:r>
            <a:r>
              <a:rPr lang="en-I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I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ContinuationYield.java</a:t>
            </a:r>
            <a:endParaRPr lang="en-I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FA927-6D4F-EC77-C94A-AF3BF2132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BE218-5FB6-5748-80CF-2DA18369D3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9197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9E48A-C9B5-E9D9-C7F2-34ABBF568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2AC2C-21F3-A7F9-F2AF-169C32D32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7F9A31-51B2-6644-5567-1F5F62658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JVM knows their layout, size, references, everything. It can serialize them to heap and restore them later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6F58F-82C3-0534-4CD7-6D1134548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BE218-5FB6-5748-80CF-2DA18369D3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6627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8A2B0-C0A9-E57B-0051-F6865BB33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D8222-977C-4DB9-AA4F-DE2F9FD69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3CDD8-6F13-4105-1698-DB5999591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69301-541D-1C77-1339-35A40D195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BE218-5FB6-5748-80CF-2DA18369D3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83486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DBA5D-9EAA-A1A5-050B-2C6A0E5B8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CEE43-E02D-E8A5-8838-A6D616330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6E9E02-332E-5CFE-A04B-AE30D9901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2D9C5-42E8-8FBE-D5B1-A3F371B6C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BE218-5FB6-5748-80CF-2DA18369D3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605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EFD6D-DEE7-4327-DD4F-DFE630952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A4B5B-7BD5-0D3E-046A-FD1BB099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70A0E-DB08-9C05-F8BB-9A7BE0548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Implementation challenge – Most of the code in Java but JVMTI is in 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23863-B25F-97AD-51A8-841EB3597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BE218-5FB6-5748-80CF-2DA18369D3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24594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86FA1-3E93-A8F5-BAAE-2C23419CF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DBD1BF-CAE8-9907-067D-A585CF203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D3D19-321E-8D8D-FDE8-A7D761803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5AE8B-35DE-BA9E-D5F8-9EB055A01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BE218-5FB6-5748-80CF-2DA18369D3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2691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AEE23-6B9C-18EF-438A-C472A8738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ADD17-C6EC-D57D-1D22-73D9116EB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8EA0D-5CA2-4D03-76C5-99BA34FAD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27171-1DC1-0985-C365-F9AF68B80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BE218-5FB6-5748-80CF-2DA18369D3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2389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Foreign function - https://</a:t>
            </a:r>
            <a:r>
              <a:rPr lang="en-US" dirty="0" err="1"/>
              <a:t>openjdk.java.net</a:t>
            </a:r>
            <a:r>
              <a:rPr lang="en-US" dirty="0"/>
              <a:t>/</a:t>
            </a:r>
            <a:r>
              <a:rPr lang="en-US" dirty="0" err="1"/>
              <a:t>jeps</a:t>
            </a:r>
            <a:r>
              <a:rPr lang="en-US" dirty="0"/>
              <a:t>/424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BE218-5FB6-5748-80CF-2DA18369D3D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55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bugs.openjdk.org</a:t>
            </a:r>
            <a:r>
              <a:rPr lang="en-US" dirty="0"/>
              <a:t>/browse/JDK-8284161</a:t>
            </a:r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openjdk</a:t>
            </a:r>
            <a:r>
              <a:rPr lang="en-US" dirty="0"/>
              <a:t>/</a:t>
            </a:r>
            <a:r>
              <a:rPr lang="en-US" dirty="0" err="1"/>
              <a:t>jdk</a:t>
            </a:r>
            <a:r>
              <a:rPr lang="en-US" dirty="0"/>
              <a:t>/commit/9583e3657e43cc1c6f2101a64534564db2a9bd84</a:t>
            </a:r>
          </a:p>
          <a:p>
            <a:r>
              <a:rPr lang="en-US" dirty="0"/>
              <a:t>1,133 changed files with 95,870 additions and 8,270 deletions.</a:t>
            </a:r>
          </a:p>
          <a:p>
            <a:r>
              <a:rPr lang="en-US" dirty="0"/>
              <a:t>Authored by who's who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BE218-5FB6-5748-80CF-2DA18369D3D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425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Doubts</a:t>
            </a:r>
          </a:p>
          <a:p>
            <a:r>
              <a:rPr lang="en-US" dirty="0">
                <a:solidFill>
                  <a:schemeClr val="bg1"/>
                </a:solidFill>
              </a:rPr>
              <a:t>Will JEP 491 be backported to JDK 21?</a:t>
            </a:r>
          </a:p>
          <a:p>
            <a:r>
              <a:rPr lang="en-US" dirty="0">
                <a:solidFill>
                  <a:schemeClr val="bg1"/>
                </a:solidFill>
              </a:rPr>
              <a:t>Will reactive programming disappear?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BE218-5FB6-5748-80CF-2DA18369D3D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30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7D39E-2EF7-ED89-B856-8F000966AD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F150C-D0EC-EF97-BFC8-9E02131B6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D3563-EA6A-0892-4132-708ACC4B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E2CF8-D80C-E24B-80F5-27501F0D62A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7DBBD-7D29-269F-67DD-4D21ED65C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64263-13F7-1AE6-BA70-90122D0A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6CD2D-8626-364C-95AB-F8F9B9310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1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34FE-67B2-0207-32E7-8084EEDF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43AC9-BA9C-AB51-7452-1E95F83A1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1A2E4-CEF8-3E3A-5031-C3643B382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E2CF8-D80C-E24B-80F5-27501F0D62A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EE26E-1B6D-3347-E1EC-719F7AB7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99920-A605-E8CE-2DD0-B74BEA68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6CD2D-8626-364C-95AB-F8F9B9310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21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65636-4114-F2C2-1816-D6A776502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165A8-AB86-A919-6259-038B01D4F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70205-FD39-5794-32D9-8B3465F5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E2CF8-D80C-E24B-80F5-27501F0D62A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4A981-2510-9B43-9E2F-9EA27CA3A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4516A-3BCC-0BEA-86B5-39D0C6AC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6CD2D-8626-364C-95AB-F8F9B9310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5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2FEB7-C155-5A15-1C6A-7896277B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FEEA8-1FB1-5687-30B8-3886D0F38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41ECC-E105-C590-E43B-85A914F43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1FBF7-6F4F-FDA4-72DA-AEB6E0263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E2CF8-D80C-E24B-80F5-27501F0D62A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F472-5C50-49CA-7207-19896B227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BB8EB-DA64-ABB4-AC2B-057E57B92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6CD2D-8626-364C-95AB-F8F9B9310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70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3B8A2-27B0-5C5F-BA52-76F5B6F7A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93F11-00FD-36E0-7D66-ECD1C88B7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AB563-5021-A454-B6C7-D19D15508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AA5E75-11D7-7408-35BA-25A706D7ED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88DBE3-898F-BA35-4428-CDF37E038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ADC03F-216A-8A36-05DC-7F320889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E2CF8-D80C-E24B-80F5-27501F0D62A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95E379-0A3C-14E9-10EE-1618DCC5C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6B37D2-8E51-6A8A-D57B-EF74894AD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6CD2D-8626-364C-95AB-F8F9B9310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8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A80DE-5F9A-54FA-B806-8D3B095D6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19839F-953B-4EC2-782A-4543AA06C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E2CF8-D80C-E24B-80F5-27501F0D62A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71E18-9FEF-D9FB-C6F1-03223D4F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7272D-1E2A-A149-5672-08655ED7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6CD2D-8626-364C-95AB-F8F9B9310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90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51643-9687-E357-7D70-5F0555E1D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E2CF8-D80C-E24B-80F5-27501F0D62A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5FB092-1206-3DA4-2523-71FD4044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14DA9-6585-B5AC-FD84-C0FF1C3EB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6CD2D-8626-364C-95AB-F8F9B9310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95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B4F44-449F-7B48-526B-9F1DFBFBE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6E8D4-1A39-8EDF-B260-F14CE8D25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C6AB9-AB44-04BC-D3D0-4475E52EA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0100F-47B5-7487-A78F-0C289F19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E2CF8-D80C-E24B-80F5-27501F0D62A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7AF59-1019-9907-1861-B5A50C8A3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E3F84-0210-32AF-8BFF-BC99F564C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6CD2D-8626-364C-95AB-F8F9B9310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81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6E59-0A1E-C783-A417-EC538F99E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A3FE6B-8985-6880-F5D7-D3F1F986CC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5ED8B-F1AD-0A55-DD60-A2B9BCE39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77062-63D0-3EA8-40FF-D40014CF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E2CF8-D80C-E24B-80F5-27501F0D62A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8F5E7-FC79-4C9B-7827-1415A8623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17035-DF14-C849-FD1E-D081FAE3F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6CD2D-8626-364C-95AB-F8F9B9310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0A606-1EE8-F916-2C52-E232DAF5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B1372-AECE-2EA4-A10F-525B5E400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A1529-808B-2B1E-1E19-C6DAE1B18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E2CF8-D80C-E24B-80F5-27501F0D62A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C0EC5-DA3C-8CFF-5E8A-047226C77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BF049-85EF-D4EC-FD1A-16A34E449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6CD2D-8626-364C-95AB-F8F9B9310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83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E7CB77-F7A1-C086-25C2-6C81A52B15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76EF9-1050-AC68-4B52-D8A503154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027CC-108E-CB4E-0BA4-B3D99C993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E2CF8-D80C-E24B-80F5-27501F0D62A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3003D-8D49-FC5D-EC05-0CEDAE4E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E504E-0BD3-C65F-D4C9-8525F4C4B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6CD2D-8626-364C-95AB-F8F9B9310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641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68C936-DBDB-70B8-5CE5-91D8583C1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9E888-1012-F7F6-FB9D-7579A57F2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D62DD-E290-3EBB-A52F-D496A06555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BE2CF8-D80C-E24B-80F5-27501F0D62A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7202E-EE48-18FE-D286-7BAD2B8AE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5526E-D87B-284F-00E8-B8270A856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6CD2D-8626-364C-95AB-F8F9B9310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6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C868-2338-287D-A7C2-489684732E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bg1"/>
                </a:solidFill>
                <a:latin typeface="system-ui"/>
              </a:rPr>
              <a:t>Demystifying Java Virtual Threads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E6C8C-451E-7823-9DA9-E227744CB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4466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Ramkumar Sunderbabu</a:t>
            </a:r>
          </a:p>
          <a:p>
            <a:r>
              <a:rPr lang="en-US" dirty="0">
                <a:solidFill>
                  <a:schemeClr val="bg1"/>
                </a:solidFill>
              </a:rPr>
              <a:t>OpenJDK Committer</a:t>
            </a:r>
          </a:p>
        </p:txBody>
      </p:sp>
    </p:spTree>
    <p:extLst>
      <p:ext uri="{BB962C8B-B14F-4D97-AF65-F5344CB8AC3E}">
        <p14:creationId xmlns:p14="http://schemas.microsoft.com/office/powerpoint/2010/main" val="3945462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41839-9107-4A70-D269-82FE6C0AC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375CC-578A-58C9-1973-0438C12B3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Quick Recap</a:t>
            </a:r>
          </a:p>
          <a:p>
            <a:r>
              <a:rPr lang="en-US" dirty="0">
                <a:solidFill>
                  <a:schemeClr val="bg1"/>
                </a:solidFill>
              </a:rPr>
              <a:t>Designing Virtual Threads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API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Scheduler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Continuations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Serviceability</a:t>
            </a:r>
          </a:p>
          <a:p>
            <a:r>
              <a:rPr lang="en-US" dirty="0">
                <a:solidFill>
                  <a:schemeClr val="bg1"/>
                </a:solidFill>
              </a:rPr>
              <a:t>Pitfalls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ThreadLocal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Pinning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54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DC1CE-62BE-576A-7962-C3D168CBB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FDEBA-EE2E-386D-B5F7-B90E5FEB7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Recap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AD56BC7-394B-5DF8-2670-687BCB4EA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363393"/>
              </p:ext>
            </p:extLst>
          </p:nvPr>
        </p:nvGraphicFramePr>
        <p:xfrm>
          <a:off x="1827462" y="1561877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3030129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24770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Platform Thread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Virtual Thread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599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&gt;2KB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200-300b metadata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293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1MB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Proportional to stack depth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430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&gt;1µs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~200ns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341119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503786-8C10-100A-2C50-9D5ADC478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306387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Terms – Platform/Carrier/OS Thread, Mounting/Unmounting</a:t>
            </a:r>
          </a:p>
          <a:p>
            <a:r>
              <a:rPr lang="en-US" dirty="0">
                <a:solidFill>
                  <a:schemeClr val="bg1"/>
                </a:solidFill>
              </a:rPr>
              <a:t>Misconceptions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VTs are faster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Quicker context switching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Little's Law</a:t>
            </a:r>
          </a:p>
        </p:txBody>
      </p:sp>
    </p:spTree>
    <p:extLst>
      <p:ext uri="{BB962C8B-B14F-4D97-AF65-F5344CB8AC3E}">
        <p14:creationId xmlns:p14="http://schemas.microsoft.com/office/powerpoint/2010/main" val="825389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F5EC92-0134-6C92-472A-5E8B200C9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EF05-8BAF-3E56-29DE-DA877548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API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9EB63-9368-47B7-9B4B-2CF45FB02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Name – Fiber ? Strand ? Light weight Thread ?</a:t>
            </a:r>
          </a:p>
          <a:p>
            <a:r>
              <a:rPr lang="en-US" dirty="0" err="1">
                <a:solidFill>
                  <a:schemeClr val="bg1"/>
                </a:solidFill>
              </a:rPr>
              <a:t>java.lang.Thread</a:t>
            </a:r>
            <a:r>
              <a:rPr lang="en-US" dirty="0">
                <a:solidFill>
                  <a:schemeClr val="bg1"/>
                </a:solidFill>
              </a:rPr>
              <a:t> has too many baggage, still good choice – easier for adoption</a:t>
            </a:r>
          </a:p>
          <a:p>
            <a:r>
              <a:rPr lang="en-US" dirty="0">
                <a:solidFill>
                  <a:schemeClr val="bg1"/>
                </a:solidFill>
              </a:rPr>
              <a:t>Tiny API surface</a:t>
            </a:r>
          </a:p>
          <a:p>
            <a:r>
              <a:rPr lang="en-US" dirty="0">
                <a:solidFill>
                  <a:schemeClr val="bg1"/>
                </a:solidFill>
              </a:rPr>
              <a:t>async-await Vs Threads</a:t>
            </a:r>
          </a:p>
          <a:p>
            <a:r>
              <a:rPr lang="en-US" dirty="0">
                <a:solidFill>
                  <a:schemeClr val="bg1"/>
                </a:solidFill>
              </a:rPr>
              <a:t>General direction to keep much of the code in Java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BE9D33-F843-DA02-650D-8C4B52F39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12130"/>
              </p:ext>
            </p:extLst>
          </p:nvPr>
        </p:nvGraphicFramePr>
        <p:xfrm>
          <a:off x="1724433" y="5186151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9244963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66115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async/await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mode thread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701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JavaScript, Kotlin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Go, Java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02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403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BD68-67E8-7EB7-1B8C-8D9EF9904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API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85A7A-67E3-208D-C120-401E2D552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0E4B3A-EE80-C66D-8679-F54145EDF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225" y="835852"/>
            <a:ext cx="6803137" cy="534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206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AB52D-3688-B515-D511-4474B5CA8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070ED-3A9D-200F-F3FE-D643DADC3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Designing Virtual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FF766-62AA-BEF3-CEBA-D56F92D19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light weight user mode thread</a:t>
            </a:r>
          </a:p>
          <a:p>
            <a:r>
              <a:rPr lang="en-US" dirty="0">
                <a:solidFill>
                  <a:schemeClr val="bg1"/>
                </a:solidFill>
              </a:rPr>
              <a:t>low footprint and negligible task switching time</a:t>
            </a:r>
          </a:p>
          <a:p>
            <a:r>
              <a:rPr lang="en-US" dirty="0">
                <a:solidFill>
                  <a:schemeClr val="bg1"/>
                </a:solidFill>
              </a:rPr>
              <a:t>someway to abstractly represent control state of the program</a:t>
            </a:r>
          </a:p>
          <a:p>
            <a:r>
              <a:rPr lang="en-US" dirty="0">
                <a:solidFill>
                  <a:schemeClr val="bg1"/>
                </a:solidFill>
              </a:rPr>
              <a:t>efficient scheduler</a:t>
            </a:r>
          </a:p>
          <a:p>
            <a:r>
              <a:rPr lang="en-US" dirty="0">
                <a:solidFill>
                  <a:schemeClr val="bg1"/>
                </a:solidFill>
              </a:rPr>
              <a:t>Virtual Thread = scheduling mechanism + state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401647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4D97A-319E-86B7-DA75-678FD5D56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Scheduler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77DC4-2996-5DF1-96BE-231457351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Why </a:t>
            </a:r>
            <a:r>
              <a:rPr lang="en-US" dirty="0" err="1">
                <a:solidFill>
                  <a:schemeClr val="bg1"/>
                </a:solidFill>
              </a:rPr>
              <a:t>ForkJoinPool</a:t>
            </a:r>
            <a:r>
              <a:rPr lang="en-US" dirty="0">
                <a:solidFill>
                  <a:schemeClr val="bg1"/>
                </a:solidFill>
              </a:rPr>
              <a:t> – loom-dev mail</a:t>
            </a:r>
          </a:p>
          <a:p>
            <a:r>
              <a:rPr lang="en-US" dirty="0" err="1">
                <a:solidFill>
                  <a:schemeClr val="bg1"/>
                </a:solidFill>
              </a:rPr>
              <a:t>ForkJoinPool</a:t>
            </a:r>
            <a:r>
              <a:rPr lang="en-US" dirty="0">
                <a:solidFill>
                  <a:schemeClr val="bg1"/>
                </a:solidFill>
              </a:rPr>
              <a:t> - FIFO mode, parallelism = </a:t>
            </a:r>
            <a:r>
              <a:rPr lang="en-US" dirty="0" err="1">
                <a:solidFill>
                  <a:schemeClr val="bg1"/>
                </a:solidFill>
              </a:rPr>
              <a:t>Runtime.getRuntime</a:t>
            </a:r>
            <a:r>
              <a:rPr lang="en-US" dirty="0">
                <a:solidFill>
                  <a:schemeClr val="bg1"/>
                </a:solidFill>
              </a:rPr>
              <a:t>().</a:t>
            </a:r>
            <a:r>
              <a:rPr lang="en-US" dirty="0" err="1">
                <a:solidFill>
                  <a:schemeClr val="bg1"/>
                </a:solidFill>
              </a:rPr>
              <a:t>availableProcessors</a:t>
            </a:r>
            <a:r>
              <a:rPr lang="en-US" dirty="0">
                <a:solidFill>
                  <a:schemeClr val="bg1"/>
                </a:solidFill>
              </a:rPr>
              <a:t>(), </a:t>
            </a:r>
            <a:r>
              <a:rPr lang="en-US" dirty="0" err="1">
                <a:solidFill>
                  <a:schemeClr val="bg1"/>
                </a:solidFill>
              </a:rPr>
              <a:t>maxPoolSize</a:t>
            </a:r>
            <a:r>
              <a:rPr lang="en-US" dirty="0">
                <a:solidFill>
                  <a:schemeClr val="bg1"/>
                </a:solidFill>
              </a:rPr>
              <a:t> = 256</a:t>
            </a:r>
          </a:p>
          <a:p>
            <a:r>
              <a:rPr lang="en-US" dirty="0" err="1">
                <a:solidFill>
                  <a:schemeClr val="bg1"/>
                </a:solidFill>
              </a:rPr>
              <a:t>ForkJoinPool</a:t>
            </a:r>
            <a:r>
              <a:rPr lang="en-US" dirty="0">
                <a:solidFill>
                  <a:schemeClr val="bg1"/>
                </a:solidFill>
              </a:rPr>
              <a:t> is already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heavily optimized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well-tested in JDK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tuned for parallelism</a:t>
            </a:r>
          </a:p>
          <a:p>
            <a:r>
              <a:rPr lang="en-US" dirty="0">
                <a:solidFill>
                  <a:schemeClr val="bg1"/>
                </a:solidFill>
              </a:rPr>
              <a:t>Not a fair scheduler – not apt for CPU bound task</a:t>
            </a:r>
          </a:p>
          <a:p>
            <a:r>
              <a:rPr lang="en-US" dirty="0">
                <a:solidFill>
                  <a:schemeClr val="bg1"/>
                </a:solidFill>
              </a:rPr>
              <a:t>No public API to choose scheduler</a:t>
            </a:r>
          </a:p>
        </p:txBody>
      </p:sp>
    </p:spTree>
    <p:extLst>
      <p:ext uri="{BB962C8B-B14F-4D97-AF65-F5344CB8AC3E}">
        <p14:creationId xmlns:p14="http://schemas.microsoft.com/office/powerpoint/2010/main" val="1932633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9064A-B981-789E-9345-4B8010D2A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37F6E-64A7-6D54-C59B-EFE0B421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Continuation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94916-C2F7-DFEF-7B33-1D67C5C41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3806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Non-reentrant, Delimited, Asymmetric, Multipronged</a:t>
            </a:r>
          </a:p>
          <a:p>
            <a:r>
              <a:rPr lang="en-US" dirty="0">
                <a:solidFill>
                  <a:schemeClr val="bg1"/>
                </a:solidFill>
              </a:rPr>
              <a:t>Important methods – constructor, yield, run</a:t>
            </a:r>
          </a:p>
          <a:p>
            <a:r>
              <a:rPr lang="en-US" dirty="0">
                <a:solidFill>
                  <a:schemeClr val="bg1"/>
                </a:solidFill>
              </a:rPr>
              <a:t>Tempting to expose as public API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blockingMethod</a:t>
            </a:r>
            <a:r>
              <a:rPr lang="en-US" dirty="0">
                <a:solidFill>
                  <a:schemeClr val="bg1"/>
                </a:solidFill>
              </a:rPr>
              <a:t>()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 err="1">
                <a:solidFill>
                  <a:schemeClr val="bg1"/>
                </a:solidFill>
              </a:rPr>
              <a:t>Continuation.yield</a:t>
            </a:r>
            <a:r>
              <a:rPr lang="en-US" dirty="0">
                <a:solidFill>
                  <a:schemeClr val="bg1"/>
                </a:solidFill>
              </a:rPr>
              <a:t>(VT_SCOPE);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unblockingMethod</a:t>
            </a:r>
            <a:r>
              <a:rPr lang="en-US" dirty="0">
                <a:solidFill>
                  <a:schemeClr val="bg1"/>
                </a:solidFill>
              </a:rPr>
              <a:t>()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 err="1">
                <a:solidFill>
                  <a:schemeClr val="bg1"/>
                </a:solidFill>
              </a:rPr>
              <a:t>vt_scheduler.submit</a:t>
            </a:r>
            <a:r>
              <a:rPr lang="en-US" dirty="0">
                <a:solidFill>
                  <a:schemeClr val="bg1"/>
                </a:solidFill>
              </a:rPr>
              <a:t>(continuation)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}</a:t>
            </a:r>
          </a:p>
          <a:p>
            <a:r>
              <a:rPr lang="en-US" dirty="0">
                <a:solidFill>
                  <a:schemeClr val="bg1"/>
                </a:solidFill>
              </a:rPr>
              <a:t>How does Loom’s scheduler know that a method is blocking? It doesn’t.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71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AF761-29CD-6476-4774-06F4F310E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2777-935A-C190-948E-3AC277C1E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Continuation…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2ACFA-639B-762B-5C01-B0B29088B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Copying terminology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Freeze – suspend a continuation and unmount it by copying frames from OS thread stack -&gt; continuation object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Thaw – mount a suspended continuation by copying frames from continuation object -&gt; OS thread stack</a:t>
            </a:r>
          </a:p>
          <a:p>
            <a:r>
              <a:rPr lang="en-US" dirty="0">
                <a:solidFill>
                  <a:schemeClr val="bg1"/>
                </a:solidFill>
              </a:rPr>
              <a:t>Advantage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No change to compiler/interpreter; same frame layout, same stack banging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No change to native calls</a:t>
            </a:r>
          </a:p>
          <a:p>
            <a:r>
              <a:rPr lang="en-US" dirty="0">
                <a:solidFill>
                  <a:schemeClr val="bg1"/>
                </a:solidFill>
              </a:rPr>
              <a:t>Disadvantage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Cost is O(stack depth)</a:t>
            </a:r>
          </a:p>
        </p:txBody>
      </p:sp>
    </p:spTree>
    <p:extLst>
      <p:ext uri="{BB962C8B-B14F-4D97-AF65-F5344CB8AC3E}">
        <p14:creationId xmlns:p14="http://schemas.microsoft.com/office/powerpoint/2010/main" val="836024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04A1B-1400-C27F-21E3-E0E92A39F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1610D-75B3-D214-F394-D2837F712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Unmount - Freeze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7054C-12E4-6D2C-2398-172AC8D13268}"/>
              </a:ext>
            </a:extLst>
          </p:cNvPr>
          <p:cNvSpPr/>
          <p:nvPr/>
        </p:nvSpPr>
        <p:spPr>
          <a:xfrm>
            <a:off x="2567190" y="1986902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FBA40C-9BA6-047C-B8B9-2C65C9D98EA5}"/>
              </a:ext>
            </a:extLst>
          </p:cNvPr>
          <p:cNvSpPr/>
          <p:nvPr/>
        </p:nvSpPr>
        <p:spPr>
          <a:xfrm>
            <a:off x="2567190" y="2601532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C.run</a:t>
            </a:r>
            <a:r>
              <a:rPr lang="en-US" dirty="0"/>
              <a:t>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566F19-DFA0-7DC9-9758-8108794FEA5D}"/>
              </a:ext>
            </a:extLst>
          </p:cNvPr>
          <p:cNvSpPr/>
          <p:nvPr/>
        </p:nvSpPr>
        <p:spPr>
          <a:xfrm>
            <a:off x="2567190" y="3216162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922996-06D8-E57F-28CB-96B6CE3DD7FC}"/>
              </a:ext>
            </a:extLst>
          </p:cNvPr>
          <p:cNvSpPr/>
          <p:nvPr/>
        </p:nvSpPr>
        <p:spPr>
          <a:xfrm>
            <a:off x="2567190" y="3834012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735472-93AC-1314-4AE9-44AE28895F03}"/>
              </a:ext>
            </a:extLst>
          </p:cNvPr>
          <p:cNvSpPr/>
          <p:nvPr/>
        </p:nvSpPr>
        <p:spPr>
          <a:xfrm>
            <a:off x="2567190" y="4445422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983768-6C9C-9B28-0D7D-2ED227DC4934}"/>
              </a:ext>
            </a:extLst>
          </p:cNvPr>
          <p:cNvSpPr/>
          <p:nvPr/>
        </p:nvSpPr>
        <p:spPr>
          <a:xfrm>
            <a:off x="2567190" y="5056832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C.yield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FF8187-30E9-176F-56D7-6F20368CDC71}"/>
              </a:ext>
            </a:extLst>
          </p:cNvPr>
          <p:cNvSpPr/>
          <p:nvPr/>
        </p:nvSpPr>
        <p:spPr>
          <a:xfrm>
            <a:off x="7313054" y="2081716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6F486A-87EE-4C53-CFC0-EF452F6FBABC}"/>
              </a:ext>
            </a:extLst>
          </p:cNvPr>
          <p:cNvSpPr/>
          <p:nvPr/>
        </p:nvSpPr>
        <p:spPr>
          <a:xfrm>
            <a:off x="7313054" y="2696346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C.run</a:t>
            </a:r>
            <a:r>
              <a:rPr lang="en-US" dirty="0"/>
              <a:t>()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D46F91-8DFD-84A7-083F-A78A70799CF8}"/>
              </a:ext>
            </a:extLst>
          </p:cNvPr>
          <p:cNvSpPr/>
          <p:nvPr/>
        </p:nvSpPr>
        <p:spPr>
          <a:xfrm>
            <a:off x="8993746" y="2081716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27A5C1-0CE9-A46B-0ECC-0CBCD192E3FB}"/>
              </a:ext>
            </a:extLst>
          </p:cNvPr>
          <p:cNvSpPr/>
          <p:nvPr/>
        </p:nvSpPr>
        <p:spPr>
          <a:xfrm>
            <a:off x="8993746" y="2699566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F971CE-F4B0-E2D7-3A48-9B911ACB71F5}"/>
              </a:ext>
            </a:extLst>
          </p:cNvPr>
          <p:cNvSpPr/>
          <p:nvPr/>
        </p:nvSpPr>
        <p:spPr>
          <a:xfrm>
            <a:off x="8993746" y="3310976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114757-6489-D9E9-F187-41A1203092BF}"/>
              </a:ext>
            </a:extLst>
          </p:cNvPr>
          <p:cNvSpPr/>
          <p:nvPr/>
        </p:nvSpPr>
        <p:spPr>
          <a:xfrm>
            <a:off x="8993746" y="3922386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C.yield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382456-7AF5-CC35-9A6F-03F711DBA9FB}"/>
              </a:ext>
            </a:extLst>
          </p:cNvPr>
          <p:cNvCxnSpPr>
            <a:cxnSpLocks/>
          </p:cNvCxnSpPr>
          <p:nvPr/>
        </p:nvCxnSpPr>
        <p:spPr>
          <a:xfrm>
            <a:off x="4365938" y="3830792"/>
            <a:ext cx="252425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866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EDF60-7136-006B-99C7-D06311350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2BB10-5CE3-E985-9A72-F48FA4037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Mount - Thaw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26371E-7522-2A93-E516-75418D22C043}"/>
              </a:ext>
            </a:extLst>
          </p:cNvPr>
          <p:cNvSpPr/>
          <p:nvPr/>
        </p:nvSpPr>
        <p:spPr>
          <a:xfrm>
            <a:off x="8186670" y="1832356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AA3A59-6C7D-072D-18BD-5AE03293861C}"/>
              </a:ext>
            </a:extLst>
          </p:cNvPr>
          <p:cNvSpPr/>
          <p:nvPr/>
        </p:nvSpPr>
        <p:spPr>
          <a:xfrm>
            <a:off x="8186670" y="2446986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C.run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8F2164-7074-916B-27BA-87AF35470985}"/>
              </a:ext>
            </a:extLst>
          </p:cNvPr>
          <p:cNvSpPr/>
          <p:nvPr/>
        </p:nvSpPr>
        <p:spPr>
          <a:xfrm>
            <a:off x="8186670" y="3061616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27619F-63FB-72C4-FB4A-500C9D3311F8}"/>
              </a:ext>
            </a:extLst>
          </p:cNvPr>
          <p:cNvSpPr/>
          <p:nvPr/>
        </p:nvSpPr>
        <p:spPr>
          <a:xfrm>
            <a:off x="8186670" y="3679466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C10725-E848-7C38-B725-10ECD6F18F53}"/>
              </a:ext>
            </a:extLst>
          </p:cNvPr>
          <p:cNvSpPr/>
          <p:nvPr/>
        </p:nvSpPr>
        <p:spPr>
          <a:xfrm>
            <a:off x="8186670" y="4290876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DBB8B4-876F-DB8D-086A-AF717650521B}"/>
              </a:ext>
            </a:extLst>
          </p:cNvPr>
          <p:cNvSpPr/>
          <p:nvPr/>
        </p:nvSpPr>
        <p:spPr>
          <a:xfrm>
            <a:off x="8186670" y="4902286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C.yield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E56C57-B96A-76F9-DFF1-CBAB27B4FD05}"/>
              </a:ext>
            </a:extLst>
          </p:cNvPr>
          <p:cNvSpPr/>
          <p:nvPr/>
        </p:nvSpPr>
        <p:spPr>
          <a:xfrm>
            <a:off x="2743200" y="2308874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AD96FD-5125-5020-6490-0AF25795BF07}"/>
              </a:ext>
            </a:extLst>
          </p:cNvPr>
          <p:cNvSpPr/>
          <p:nvPr/>
        </p:nvSpPr>
        <p:spPr>
          <a:xfrm>
            <a:off x="2743200" y="2923504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C.run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52CE8C-A214-816E-F944-3D28354411A7}"/>
              </a:ext>
            </a:extLst>
          </p:cNvPr>
          <p:cNvSpPr/>
          <p:nvPr/>
        </p:nvSpPr>
        <p:spPr>
          <a:xfrm>
            <a:off x="4423892" y="2308874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047437-E84B-47C1-E647-140971612987}"/>
              </a:ext>
            </a:extLst>
          </p:cNvPr>
          <p:cNvSpPr/>
          <p:nvPr/>
        </p:nvSpPr>
        <p:spPr>
          <a:xfrm>
            <a:off x="4423892" y="2926724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635F68-DFA4-1A5F-1ECF-E04A3DF21C8D}"/>
              </a:ext>
            </a:extLst>
          </p:cNvPr>
          <p:cNvSpPr/>
          <p:nvPr/>
        </p:nvSpPr>
        <p:spPr>
          <a:xfrm>
            <a:off x="4423892" y="3538134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28A21C-D1B5-8E69-037B-60DA3AC4E139}"/>
              </a:ext>
            </a:extLst>
          </p:cNvPr>
          <p:cNvSpPr/>
          <p:nvPr/>
        </p:nvSpPr>
        <p:spPr>
          <a:xfrm>
            <a:off x="4423892" y="4149544"/>
            <a:ext cx="1262130" cy="614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C.yield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186ECB3-E219-6473-A868-AEC4C06F5D53}"/>
              </a:ext>
            </a:extLst>
          </p:cNvPr>
          <p:cNvCxnSpPr>
            <a:cxnSpLocks/>
          </p:cNvCxnSpPr>
          <p:nvPr/>
        </p:nvCxnSpPr>
        <p:spPr>
          <a:xfrm>
            <a:off x="6096000" y="3267678"/>
            <a:ext cx="16699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415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31B25-2DBF-49C1-E86B-B59B27E2E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5E83A-43A4-92D6-4972-425ABCAF6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Serviceability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75499-F61A-F142-1E09-6D53C925B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Addition to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JFR Events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Thread dump format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JDWP agent options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JVMTI spec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JDWP spec</a:t>
            </a:r>
          </a:p>
          <a:p>
            <a:r>
              <a:rPr lang="en-US" dirty="0">
                <a:solidFill>
                  <a:schemeClr val="bg1"/>
                </a:solidFill>
              </a:rPr>
              <a:t>scale to millions of threads</a:t>
            </a:r>
          </a:p>
        </p:txBody>
      </p:sp>
    </p:spTree>
    <p:extLst>
      <p:ext uri="{BB962C8B-B14F-4D97-AF65-F5344CB8AC3E}">
        <p14:creationId xmlns:p14="http://schemas.microsoft.com/office/powerpoint/2010/main" val="3777086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27B51E-FD96-5EC6-174F-2B86B2B79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31C0B-2D9B-B091-C9A8-737654660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Pitfalls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7FD07-AF0F-2A8C-EB5F-0EF401200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ThreadLocal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Pinning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Deadlock</a:t>
            </a:r>
          </a:p>
        </p:txBody>
      </p:sp>
    </p:spTree>
    <p:extLst>
      <p:ext uri="{BB962C8B-B14F-4D97-AF65-F5344CB8AC3E}">
        <p14:creationId xmlns:p14="http://schemas.microsoft.com/office/powerpoint/2010/main" val="1023603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B07E3D-E2E5-63DA-899A-7E2E712CF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C99BB-1C91-1721-53EA-708D8F5FC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ThreadLocal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58F88-5249-8814-B9DC-32FC682B5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ThreadLocals</a:t>
            </a:r>
            <a:r>
              <a:rPr lang="en-US" dirty="0">
                <a:solidFill>
                  <a:schemeClr val="bg1"/>
                </a:solidFill>
              </a:rPr>
              <a:t> need memory created per thread.</a:t>
            </a:r>
          </a:p>
          <a:p>
            <a:r>
              <a:rPr lang="en-US" dirty="0" err="1">
                <a:solidFill>
                  <a:schemeClr val="bg1"/>
                </a:solidFill>
              </a:rPr>
              <a:t>StructuredScope</a:t>
            </a:r>
            <a:r>
              <a:rPr lang="en-US" dirty="0">
                <a:solidFill>
                  <a:schemeClr val="bg1"/>
                </a:solidFill>
              </a:rPr>
              <a:t> – better alternate for Virtual thread use case</a:t>
            </a:r>
          </a:p>
        </p:txBody>
      </p:sp>
    </p:spTree>
    <p:extLst>
      <p:ext uri="{BB962C8B-B14F-4D97-AF65-F5344CB8AC3E}">
        <p14:creationId xmlns:p14="http://schemas.microsoft.com/office/powerpoint/2010/main" val="2259992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0204F-6666-6218-8222-F6ECA4DB6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Virtual Thread pinning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79F2D-44AF-A512-A5E0-45F1DE1AD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2400" b="0" i="0" dirty="0">
                <a:solidFill>
                  <a:schemeClr val="bg1"/>
                </a:solidFill>
                <a:effectLst/>
                <a:latin typeface="DejaVu Sans"/>
              </a:rPr>
              <a:t>VT cannot be unmounted during blocking operations because it is </a:t>
            </a:r>
            <a:r>
              <a:rPr lang="en-IN" sz="2400" b="0" i="1" dirty="0">
                <a:solidFill>
                  <a:schemeClr val="bg1"/>
                </a:solidFill>
                <a:effectLst/>
                <a:latin typeface="DejaVu Sans"/>
              </a:rPr>
              <a:t>pinned</a:t>
            </a:r>
            <a:r>
              <a:rPr lang="en-IN" sz="2400" b="0" i="0" dirty="0">
                <a:solidFill>
                  <a:schemeClr val="bg1"/>
                </a:solidFill>
                <a:effectLst/>
                <a:latin typeface="DejaVu Sans"/>
              </a:rPr>
              <a:t> to its carrier: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sz="2400" b="0" i="0" dirty="0">
                <a:solidFill>
                  <a:schemeClr val="bg1"/>
                </a:solidFill>
                <a:effectLst/>
                <a:latin typeface="DejaVu Sans"/>
              </a:rPr>
              <a:t>When it executes code inside a synchronized block or method, or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sz="2400" b="0" i="0" dirty="0">
                <a:solidFill>
                  <a:schemeClr val="bg1"/>
                </a:solidFill>
                <a:effectLst/>
                <a:latin typeface="DejaVu Sans"/>
              </a:rPr>
              <a:t>When it executes a native method or a </a:t>
            </a:r>
            <a:r>
              <a:rPr lang="en-IN" sz="2400" b="0" i="0" u="none" strike="noStrike" dirty="0">
                <a:solidFill>
                  <a:schemeClr val="bg1"/>
                </a:solidFill>
                <a:effectLst/>
                <a:latin typeface="DejaVu Sans"/>
              </a:rPr>
              <a:t>foreign function.</a:t>
            </a:r>
          </a:p>
          <a:p>
            <a:pPr marL="0" indent="0" algn="l">
              <a:buNone/>
            </a:pPr>
            <a:r>
              <a:rPr lang="en-IN" sz="2400" dirty="0">
                <a:solidFill>
                  <a:schemeClr val="bg1"/>
                </a:solidFill>
                <a:latin typeface="DejaVu Sans"/>
              </a:rPr>
              <a:t>Detection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sz="2400" b="0" i="0" dirty="0">
                <a:solidFill>
                  <a:schemeClr val="bg1"/>
                </a:solidFill>
                <a:effectLst/>
                <a:latin typeface="DejaVu Sans Mono"/>
              </a:rPr>
              <a:t>-</a:t>
            </a:r>
            <a:r>
              <a:rPr lang="en-IN" sz="2400" b="0" i="0" dirty="0" err="1">
                <a:solidFill>
                  <a:schemeClr val="bg1"/>
                </a:solidFill>
                <a:effectLst/>
                <a:latin typeface="DejaVu Sans Mono"/>
              </a:rPr>
              <a:t>Djdk.tracePinnedThreads</a:t>
            </a:r>
            <a:r>
              <a:rPr lang="en-IN" sz="2400" b="0" i="0" dirty="0">
                <a:solidFill>
                  <a:schemeClr val="bg1"/>
                </a:solidFill>
                <a:effectLst/>
                <a:latin typeface="DejaVu Sans Mono"/>
              </a:rPr>
              <a:t>=full</a:t>
            </a:r>
            <a:r>
              <a:rPr lang="en-IN" sz="2400" b="0" i="0" dirty="0">
                <a:solidFill>
                  <a:schemeClr val="bg1"/>
                </a:solidFill>
                <a:effectLst/>
                <a:latin typeface="DejaVu Sans"/>
              </a:rPr>
              <a:t>/short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IN" sz="2400" dirty="0">
                <a:solidFill>
                  <a:schemeClr val="bg1"/>
                </a:solidFill>
                <a:latin typeface="DejaVu Sans"/>
              </a:rPr>
              <a:t>JFR event - </a:t>
            </a:r>
            <a:r>
              <a:rPr lang="en-IN" sz="2400" dirty="0" err="1">
                <a:solidFill>
                  <a:schemeClr val="bg1"/>
                </a:solidFill>
                <a:latin typeface="DejaVu Sans"/>
              </a:rPr>
              <a:t>jdk.VirtualThreadPinned</a:t>
            </a:r>
            <a:endParaRPr lang="en-IN" sz="2400" dirty="0">
              <a:solidFill>
                <a:schemeClr val="bg1"/>
              </a:solidFill>
              <a:latin typeface="DejaVu Sans"/>
            </a:endParaRPr>
          </a:p>
          <a:p>
            <a:pPr marL="0" indent="0" algn="l">
              <a:buNone/>
            </a:pPr>
            <a:r>
              <a:rPr lang="en-IN" sz="2400" dirty="0">
                <a:solidFill>
                  <a:schemeClr val="bg1"/>
                </a:solidFill>
                <a:latin typeface="DejaVu Sans"/>
              </a:rPr>
              <a:t>Pinning in synchronize fixed in JDK 24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bg1"/>
                </a:solidFill>
                <a:latin typeface="DejaVu Sans"/>
              </a:rPr>
              <a:t>JEP 491: Synchronize Virtual Threads without Pinning </a:t>
            </a:r>
            <a:endParaRPr lang="en-IN" sz="2400" b="0" i="0" dirty="0">
              <a:solidFill>
                <a:schemeClr val="bg1"/>
              </a:solidFill>
              <a:effectLst/>
              <a:latin typeface="DejaVu Sans"/>
            </a:endParaRPr>
          </a:p>
          <a:p>
            <a:pPr marL="0" indent="0" algn="l">
              <a:buNone/>
            </a:pPr>
            <a:endParaRPr lang="en-IN" sz="2400" dirty="0">
              <a:solidFill>
                <a:schemeClr val="bg1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206588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6943-462D-E52A-23FF-59A31CFAA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Jacking up the JDK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B612F-9C50-7626-C421-930E3E03A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1,133 changed files with 95,870 additions and 8,270 deletions.</a:t>
            </a:r>
          </a:p>
          <a:p>
            <a:r>
              <a:rPr lang="en-US" dirty="0">
                <a:solidFill>
                  <a:schemeClr val="bg1"/>
                </a:solidFill>
              </a:rPr>
              <a:t>Java 13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JEP 353 Reimplement the Legacy Socket API</a:t>
            </a:r>
          </a:p>
          <a:p>
            <a:r>
              <a:rPr lang="en-US" dirty="0">
                <a:solidFill>
                  <a:schemeClr val="bg1"/>
                </a:solidFill>
              </a:rPr>
              <a:t>Java 15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JEP 373 Reimplement the Legacy </a:t>
            </a:r>
            <a:r>
              <a:rPr lang="en-US" dirty="0" err="1">
                <a:solidFill>
                  <a:schemeClr val="bg1"/>
                </a:solidFill>
              </a:rPr>
              <a:t>DatagramSocket</a:t>
            </a:r>
            <a:r>
              <a:rPr lang="en-US" dirty="0">
                <a:solidFill>
                  <a:schemeClr val="bg1"/>
                </a:solidFill>
              </a:rPr>
              <a:t> API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JEP 374 Deprecate and Disable Biased Locking</a:t>
            </a:r>
          </a:p>
          <a:p>
            <a:r>
              <a:rPr lang="en-US" dirty="0">
                <a:solidFill>
                  <a:schemeClr val="bg1"/>
                </a:solidFill>
              </a:rPr>
              <a:t>Java 18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JEP 416 Reimplement Core Reflection with Method Handles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072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73A9-7028-1E64-35B3-82886B25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5450" y="2549525"/>
            <a:ext cx="3721100" cy="1325563"/>
          </a:xfrm>
        </p:spPr>
        <p:txBody>
          <a:bodyPr/>
          <a:lstStyle/>
          <a:p>
            <a:r>
              <a:rPr lang="kn-IN" dirty="0" err="1">
                <a:solidFill>
                  <a:schemeClr val="bg1"/>
                </a:solidFill>
              </a:rPr>
              <a:t>ಧನ್ಯವಾದಗಳು</a:t>
            </a:r>
            <a:r>
              <a:rPr lang="en-US" dirty="0">
                <a:solidFill>
                  <a:schemeClr val="bg1"/>
                </a:solidFill>
              </a:rPr>
              <a:t> 🙏</a:t>
            </a:r>
          </a:p>
        </p:txBody>
      </p:sp>
    </p:spTree>
    <p:extLst>
      <p:ext uri="{BB962C8B-B14F-4D97-AF65-F5344CB8AC3E}">
        <p14:creationId xmlns:p14="http://schemas.microsoft.com/office/powerpoint/2010/main" val="2962629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15436</TotalTime>
  <Words>892</Words>
  <Application>Microsoft Macintosh PowerPoint</Application>
  <PresentationFormat>Widescreen</PresentationFormat>
  <Paragraphs>175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DejaVu Sans</vt:lpstr>
      <vt:lpstr>DejaVu Sans Mono</vt:lpstr>
      <vt:lpstr>Menlo</vt:lpstr>
      <vt:lpstr>system-ui</vt:lpstr>
      <vt:lpstr>Office Theme</vt:lpstr>
      <vt:lpstr>Demystifying Java Virtual Threads</vt:lpstr>
      <vt:lpstr>Agenda</vt:lpstr>
      <vt:lpstr>Recap</vt:lpstr>
      <vt:lpstr>API Design</vt:lpstr>
      <vt:lpstr>API</vt:lpstr>
      <vt:lpstr>Designing Virtual Threads</vt:lpstr>
      <vt:lpstr>Scheduler</vt:lpstr>
      <vt:lpstr>Continuation</vt:lpstr>
      <vt:lpstr>Continuation…</vt:lpstr>
      <vt:lpstr>Unmount - Freeze</vt:lpstr>
      <vt:lpstr>Mount - Thaw</vt:lpstr>
      <vt:lpstr>Serviceability</vt:lpstr>
      <vt:lpstr>Pitfalls</vt:lpstr>
      <vt:lpstr>ThreadLocal</vt:lpstr>
      <vt:lpstr>Virtual Thread pinning</vt:lpstr>
      <vt:lpstr>Jacking up the JDK</vt:lpstr>
      <vt:lpstr>ಧನ್ಯವಾದಗಳು 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Ramkumar Sunderbabu</dc:creator>
  <cp:lastModifiedBy>RAMKUMAR S .</cp:lastModifiedBy>
  <cp:revision>167</cp:revision>
  <dcterms:created xsi:type="dcterms:W3CDTF">2024-11-13T08:28:43Z</dcterms:created>
  <dcterms:modified xsi:type="dcterms:W3CDTF">2026-04-25T04:49:58Z</dcterms:modified>
</cp:coreProperties>
</file>